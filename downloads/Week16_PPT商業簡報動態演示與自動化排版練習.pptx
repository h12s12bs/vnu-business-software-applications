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164592" cy="4480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F59E0B"/>
                </a:solidFill>
                <a:latin typeface="微軟正黑體"/>
              </a:rPr>
              <a:t>【第 16 週專業核心課程】</a:t>
            </a:r>
          </a:p>
          <a:p>
            <a:pPr>
              <a:spcAft>
                <a:spcPts val="1800"/>
              </a:spcAft>
            </a:pPr>
            <a:r>
              <a:rPr sz="3300" b="1">
                <a:solidFill>
                  <a:srgbClr val="FFFFFF"/>
                </a:solidFill>
                <a:latin typeface="微軟正黑體"/>
              </a:rPr>
              <a:t>第 16 週：PowerPoint 簡報動態演示技巧與 AI 批次自動化簡報工作流</a:t>
            </a:r>
          </a:p>
          <a:p>
            <a:pPr>
              <a:spcAft>
                <a:spcPts val="2600"/>
              </a:spcAft>
            </a:pPr>
            <a:r>
              <a:rPr sz="1900">
                <a:solidFill>
                  <a:srgbClr val="E2E8F0"/>
                </a:solidFill>
                <a:latin typeface="微軟正黑體"/>
              </a:rPr>
              <a:t>平滑轉化 (Morph) 轉場 ｜ 動畫節制美學 ｜ 免費 Python-pptx 批量產出週報
【模組：商業簡報製作與提案說服力 ｜ 核心工具：PowerPoint / Python / Antigravity】</a:t>
            </a:r>
          </a:p>
          <a:p>
            <a:r>
              <a:rPr sz="1500" b="1">
                <a:solidFill>
                  <a:srgbClr val="0D9488"/>
                </a:solidFill>
                <a:latin typeface="微軟正黑體"/>
              </a:rPr>
              <a:t>萬能科技大學 企業管理系 ｜ 授課教師：邱俊維 博士 / 助理教授 ｜ 2 小時實戰大課 ｜ 結合免費版 Antigravity 人機協作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學習地圖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 16 週在 18 週課程架構中的核心定位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清晰理解本週知識點與前置、後續單元的關鍵承接關係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395728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21408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01 ｜ 先備知識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  <a:latin typeface="微軟正黑體"/>
              </a:rPr>
              <a:t>前置知識依賴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第 15 週核心技能與專案進度銜接。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熟悉檔案總管目錄結構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備妥指定教材與雲端帳號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91640"/>
            <a:ext cx="2395728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20240"/>
            <a:ext cx="2121408" cy="329184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02 ｜ 本週重點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678"/>
                </a:solidFill>
                <a:latin typeface="微軟正黑體"/>
              </a:rPr>
              <a:t>本週核心聚焦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深入學習【PowerPoint 簡報動態演示技巧與 AI 批次自動化簡報工作流】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掌握軟體底層運作原理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熟練 Antigravity 提示協同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395728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92024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03 ｜ 實務延伸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微軟正黑體"/>
              </a:rPr>
              <a:t>實務場景應用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跨部門真實商業公文實操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多條件數據分析與報表清洗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建立無瑕疵防呆把關機制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91640"/>
            <a:ext cx="2395728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920240"/>
            <a:ext cx="212140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04 ｜ 成果驗收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97706"/>
                </a:solidFill>
                <a:latin typeface="微軟正黑體"/>
              </a:rPr>
              <a:t>後續技能延伸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為後續高階整合單元與期末商業成果發表累積關鍵技能。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累積個人專案數位資產庫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達成商管即戰力核心指標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OBE 成果導向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本週學習成效檢核指標 (OBE Outcomes)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下課前，每位同學必須具備並通過檢驗的三大實務能力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認知思維指標 (Knowledge)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掌握【PowerPoint 簡】的核心原理與商管標準規範。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實機操作指標 (Skills)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熟練運用【PowerPoint / Python / Antigravity】與免費版 Antigravity 完成逐步操作 SOP。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專案產出指標 (Deliverables)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獨立產出符合專業規格之【PowerPoint】實務成果檔案並完成防呆查核。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環境準備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課堂實機操作前置準備與教材盤點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請於 3 分鐘內確認以下檔案與軟體環境已就緒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09728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A3678"/>
                </a:solidFill>
                <a:latin typeface="微軟正黑體"/>
              </a:rPr>
              <a:t>1. 示範與練習檔案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確認已開啟工作區之《01_每週教學簡報_PPT/Week16_PPT動態轉場設計與AI批次自動化簡報工作流.pptx》。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檢查檔案具備完整寫入權限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避免在壓縮包內直接編輯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059669"/>
                </a:solidFill>
                <a:latin typeface="微軟正黑體"/>
              </a:rPr>
              <a:t>2. 免費版 Antigravity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登入 Google 帳號，開啟 Antigravity / Gemini 免費版對話視窗，確認介面無異常。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確認對話記錄功能正常啟用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備妥本週提示詞文字檔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2120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D97706"/>
                </a:solidFill>
                <a:latin typeface="微軟正黑體"/>
              </a:rPr>
              <a:t>3. 專案工作資料夾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確認已建立本週練習專屬資料夾：`Week16_課堂實作/`，落實版控命名。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建立個人專屬實作練習目錄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養成定時存檔的好習慣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160520"/>
            <a:ext cx="52120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4F46E5"/>
                </a:solidFill>
                <a:latin typeface="微軟正黑體"/>
              </a:rPr>
              <a:t>4. 雙螢幕分屏工作流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左側配置教材簡報與 AI 視窗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右側配置本機 Office 編輯軟體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善用快捷鍵 Win+Left/Right 提升 50% 效率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職場痛點情境劇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真實職場慘劇：職場真實商業困境：PowerPoint 簡報動態瓶頸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為什麼傳統的辦公方式正在嚴重消耗企業競爭力？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🚨 災難發生現場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團隊在執行【PowerPoint 簡】專案時，因缺乏標準化方法，導致主管大發雷霆與客戶質疑。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⏳ 付出的慘痛代價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耗費數倍加班工時重工修改，嚴重拖延決策時效並侵蝕企業利潤。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微軟正黑體"/>
              </a:rPr>
              <a:t>🤦‍♂️ 核心癥結所在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缺乏現代人機協作思維與軟體底層規範，單純依賴機械式手動操作。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傳統瓶頸剖析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傳統純手動辦公作業的三大致命瓶頸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單靠勞力密集與滑鼠手動操作，為何注定無法應對現代商業節奏？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07492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11D48"/>
                </a:solidFill>
                <a:latin typeface="微軟正黑體"/>
              </a:rPr>
              <a:t>傳統模式 ✖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E11D48"/>
                </a:solidFill>
                <a:latin typeface="微軟正黑體"/>
              </a:rPr>
              <a:t>傳統純手動作業方式之致命瓶頸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耗時費力：平均耗費數小時在繁瑣格式手動微調與資料核對上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高出錯率：公式忘記鎖定絕對參照造成大面積計算錯誤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重工率高：需求微調時，數十頁編號、目錄或公式需手動重改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心智枯竭：大量精神消耗在低價值的排版與清洗機械動作上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5255" y="1691640"/>
            <a:ext cx="50749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微軟正黑體"/>
              </a:rPr>
              <a:t>協同模式 ✔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59669"/>
                </a:solidFill>
                <a:latin typeface="微軟正黑體"/>
              </a:rPr>
              <a:t>AI 人機協作全新工作流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秒級生成：3 分鐘內完成結構化企劃大綱與標準資料清洗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精準防呆：利用 IFERROR 與防呆規則確保公式零報錯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全域連動：樣式集與自動目錄一鍵更新，改動成本趨近於零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高階決策：學生專注於商業洞察與經營決策，生產力躍升 10 倍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566160"/>
            <a:ext cx="1280160" cy="128016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AI 人機協作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免費版 Antigravity 如何成為職場破局關鍵？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不用付費購買高昂微軟 Copilot，商管學生如何零成本逆襲？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💡 角色升級：從打字員到架構審查官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將草擬初稿、尋找複雜公式、清洗格式等繁重機械勞動交由 AI，人類專注於商務邏輯拍板與策略決策。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⚡ 效率倍增：秒級轉化與結構提煉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自然語言即時轉譯為正規函數（如 SUMIFS、XLOOKUP）、長篇公文一秒提煉為標題大綱與三線表格。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🛡️ 嚴格防呆：人機互驗保障商業真確性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建立『AI 生成 → 人類檢驗邊界值 → 實機公式運算』閉環，杜絕模型幻覺，確保報表零瑕疵。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本週大哉問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課堂核心思維提問 (The Big Question)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請帶著這個問題進入接下來的核心觀念與實操環節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🎯 本週核心問題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如何在【PowerPoint 簡】任務中，兼顧專業商管規範與極致自動化效率？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🔍 課堂觀察重點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在接下來的實作步驟中，仔細觀察哪一個環節最容易出錯？AI 在哪一個環節提供了最大的邊際效益？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進入核心技術：軟體底層運作邏輯與商管標準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拒絕死背按鈕位置，從物件模型與演算法邏輯徹底搞懂原理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PowerPoint 核心機制剖析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底層架構與技術原理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深入軟體物件層級與運算演算法，掌握自動化運作原理。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建立標準化流程，降低人為出錯風險，大幅提升組織產出品質。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忽略底層機制，遇到問題時無法自主排查除錯。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商管國際規範與標準實務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商管國際規範與標準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依循學術與頂級管理顧問公司之排版與計算標準，落實專業細節。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提升商業成果之公信力與說服力，贏得客戶與高階主管信賴。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格式不規範導致第一眼即被視為業餘，失去進一步溝通機會。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資料結構與階層分離原則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資料與樣式分離哲學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確保數據源頭、邏輯處理與外觀展示三者解耦獨立。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提升模型之可維護性與擴展性，面對需求異動時能秒速調校。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混合數據與樣式，牽一髮動全身，維護成本極高。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人機協作效率倍增矩陣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人機協作效率倍增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善用免費版 Antigravity 之強大推理能力，加速草擬與公式構建。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將時間投資在更高價值的商業策略與商業洞察上。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抗拒新工具導致生產力落後，陷入低效加班惡性循環。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邊界條件與防呆設計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邊界條件防呆機制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在公式與版面中預先設置容錯處理機制（如 IFERROR 或樣式繼承）。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保障商業報表在非預期狀況下依然穩定運行，零崩潰展示。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遭遇特殊字元或空值時系統報錯，當場出醜失分。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持續演進與數位資產積累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個人數位資產化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將每週操作成果模組化存入個人工作庫，建立個人辦公外掛。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形成個人長遠專業護城河，成為團隊中不可或缺的核心戰力。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每次任務均從零開始，無法累積個人工作資產與經驗。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深度對比矩陣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傳統作業流程 vs. 免費版 Antigravity 人機協作全方位對照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全維度量化比較：耗時、正確率、靈活性與心智負擔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07492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11D48"/>
                </a:solidFill>
                <a:latin typeface="微軟正黑體"/>
              </a:rPr>
              <a:t>傳統模式 ✖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E11D48"/>
                </a:solidFill>
                <a:latin typeface="微軟正黑體"/>
              </a:rPr>
              <a:t>傳統純手動作業方式之致命瓶頸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耗時費力：平均耗費數小時在繁瑣格式手動微調與資料核對上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高出錯率：公式忘記鎖定絕對參照造成大面積計算錯誤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重工率高：需求微調時，數十頁編號、目錄或公式需手動重改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心智枯竭：大量精神消耗在低價值的排版與清洗機械動作上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5255" y="1691640"/>
            <a:ext cx="50749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微軟正黑體"/>
              </a:rPr>
              <a:t>協同模式 ✔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59669"/>
                </a:solidFill>
                <a:latin typeface="微軟正黑體"/>
              </a:rPr>
              <a:t>AI 人機協作全新工作流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秒級生成：3 分鐘內完成結構化企劃大綱與標準資料清洗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精準防呆：利用 IFERROR 與防呆規則確保公式零報錯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全域連動：樣式集與自動目錄一鍵更新，改動成本趨近於零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高階決策：學生專注於商業洞察與經營決策，生產力躍升 10 倍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566160"/>
            <a:ext cx="1280160" cy="128016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VS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商業效益評估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量化商業價值：時間、金錢與決策品質的全面升級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如何用數據向你的老闆證明這套工作流的投資報酬率 (ROI)？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4992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1A3678"/>
                </a:solidFill>
                <a:latin typeface="微軟正黑體"/>
              </a:rPr>
              <a:t>80%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3678"/>
                </a:solidFill>
                <a:latin typeface="微軟正黑體"/>
              </a:rPr>
              <a:t>【工時大幅壓縮】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微軟正黑體"/>
              </a:rPr>
              <a:t>時間回報 (Time ROI)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0F172A"/>
                </a:solidFill>
                <a:latin typeface="微軟正黑體"/>
              </a:rPr>
              <a:t>原先需要 4 小時的手動排版或繁瑣公式撰寫，透過 AI 協作縮短至 30 分鐘內完成定稿，省下 80% 機械勞動時間。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3364992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D97706"/>
                </a:solidFill>
                <a:latin typeface="微軟正黑體"/>
              </a:rPr>
              <a:t>0 瑕疵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97706"/>
                </a:solidFill>
                <a:latin typeface="微軟正黑體"/>
              </a:rPr>
              <a:t>【合約法務風控】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微軟正黑體"/>
              </a:rPr>
              <a:t>風控價值 (Risk Control)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0F172A"/>
                </a:solidFill>
                <a:latin typeface="微軟正黑體"/>
              </a:rPr>
              <a:t>透過標準格式設定與防呆公式（如 IFERROR），杜絕數字錯位或條款漏載之重大法務財務風險，避免百萬損失。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36499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059669"/>
                </a:solidFill>
                <a:latin typeface="微軟正黑體"/>
              </a:rPr>
              <a:t>10x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59669"/>
                </a:solidFill>
                <a:latin typeface="微軟正黑體"/>
              </a:rPr>
              <a:t>【決策前瞻洞察】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微軟正黑體"/>
              </a:rPr>
              <a:t>策略升級 (Strategy Leap)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0F172A"/>
                </a:solidFill>
                <a:latin typeface="微軟正黑體"/>
              </a:rPr>
              <a:t>節省下的時間讓分析師能進行多維度情境分析（What-If），提供管理層更具深度的策略方針，決策速度提升 10 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名詞速查庫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商管職場高頻關鍵名詞速查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開會或面試時必備的專業商務軟體術語精準定義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09728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A3678"/>
                </a:solidFill>
                <a:latin typeface="微軟正黑體"/>
              </a:rPr>
              <a:t>PowerPoi 原理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商業軟體在此模組的核心運作邏輯與資料流轉規則。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該主題的核心運作邏輯與規範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深刻理解方能避免初學者盲區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059669"/>
                </a:solidFill>
                <a:latin typeface="微軟正黑體"/>
              </a:rPr>
              <a:t>CLEAR 提示詞框架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Context(背景)、Limits(限制)、Expectation(期望)、Action(行動)、Role(角色)之標準法則。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國際商管公文標準必備規格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提高跨部門協同溝通效率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2120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D97706"/>
                </a:solidFill>
                <a:latin typeface="微軟正黑體"/>
              </a:rPr>
              <a:t>防呆容錯機制 (Poka-Yoke)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預先在軟體或公式中設置阻擋或降級防線，確保遭遇異常輸入時不中斷運作。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軟體架構中的關鍵防呆防線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確保系統面對異常時優雅降級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160520"/>
            <a:ext cx="52120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4F46E5"/>
                </a:solidFill>
                <a:latin typeface="微軟正黑體"/>
              </a:rPr>
              <a:t>物件導向樣式思維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內容（語意）與樣式（美工）完全分離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透過繼承機制實現全域一鍵更新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現代大型商業報表必備的架構底座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知識架構圖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 16 週核心概念架構圖解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梳理所有觀念分支，建立系統化的認知網絡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246120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288036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TIER 01 ｜ 需求端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  <a:latin typeface="微軟正黑體"/>
              </a:rPr>
              <a:t>輸入層 (Input)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輸入層：原始業務需求、原始數據明細與文字草稿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原始業務需求陳述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原始數據明細與文字草稿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87368" y="3840480"/>
            <a:ext cx="292608" cy="34747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71416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71416" y="1691640"/>
            <a:ext cx="324612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54296" y="1920240"/>
            <a:ext cx="2880360" cy="347472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TIER 02 ｜ 運算端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處理層 (Process)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處理層：免費版 Antigravity 提示詞工程 ＋ 軟體標準 SOP 參數配置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CLEAR 提示詞框架提煉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軟體標準 SOP 參數配置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27264" y="3840480"/>
            <a:ext cx="292608" cy="34747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2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2" y="1691640"/>
            <a:ext cx="32461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94192" y="1920240"/>
            <a:ext cx="288036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TIER 03 ｜ 價值端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輸出層 (Output)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輸出層：符合企業級商務規格之高質感成果（Word企劃書 / Excel模型 / PPT簡報）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符合企業級規格之高質感成果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完全符合檢核標準的商務資產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觀念總結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20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觀念模組收斂：上機前的心態定位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帶著架構思維上機，把軟體當成畫布，把 AI 當成頂尖助理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心態 1：軟體是實踐規範的工具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不要為了美化而美化，所有字體大小、行距、表格線條，都必須服務於『讓讀者快速理解資訊』。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心態 2：AI 是強大的草擬與除錯大腦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不要害怕向 AI 發問，但永遠保持質疑與查驗的專業習慣，人永遠是最後簽名負責的那個人。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提示詞工程：如何向免費版 Antigravity 精準下達商務指令？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擺脫平庸套話，讓 AI 成為你的 24 小時私人家教與資深幕僚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零費用優勢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商管學生的免費 AI 辦公護城河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不花任何一毛錢，如何達成企業級辦公自動化水準？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07492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11D48"/>
                </a:solidFill>
                <a:latin typeface="微軟正黑體"/>
              </a:rPr>
              <a:t>傳統模式 ✖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E11D48"/>
                </a:solidFill>
                <a:latin typeface="微軟正黑體"/>
              </a:rPr>
              <a:t>傳統純手動作業方式之致命瓶頸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耗時費力：平均耗費數小時在繁瑣格式手動微調與資料核對上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高出錯率：公式忘記鎖定絕對參照造成大面積計算錯誤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重工率高：需求微調時，數十頁編號、目錄或公式需手動重改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心智枯竭：大量精神消耗在低價值的排版與清洗機械動作上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5255" y="1691640"/>
            <a:ext cx="50749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微軟正黑體"/>
              </a:rPr>
              <a:t>協同模式 ✔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59669"/>
                </a:solidFill>
                <a:latin typeface="微軟正黑體"/>
              </a:rPr>
              <a:t>AI 人機協作全新工作流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秒級生成：3 分鐘內完成結構化企劃大綱與標準資料清洗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精準防呆：利用 IFERROR 與防呆規則確保公式零報錯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全域連動：樣式集與自動目錄一鍵更新，改動成本趨近於零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高階決策：學生專注於商業洞察與經營決策，生產力躍升 10 倍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566160"/>
            <a:ext cx="1280160" cy="128016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VS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CLEAR 框架拆解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CLEAR 商務提問黃金法則在第 18 週各任務之具體套用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Context 背景 ｜ Limits 限制 ｜ Expectation 期望 ｜ Action 行動 ｜ Role 角色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09728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A3678"/>
                </a:solidFill>
                <a:latin typeface="微軟正黑體"/>
              </a:rPr>
              <a:t>C (Context) 背景脈絡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背景情境：我們團隊正在進行【PowerPoint 簡報動態演示技巧與 AI 批次自動化簡報工作流】專案，受眾為企業高階經營決策層。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交代公司業態與業務現況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提供充足上下文激發推理深度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097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E11D48"/>
                </a:solidFill>
                <a:latin typeface="微軟正黑體"/>
              </a:rPr>
              <a:t>L (Limits) 邊界限制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約束條件：繁體中文（台灣商務規範），邏輯嚴密，去除冗言贅字，嚴格使用標準 Markdown 呈現。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嚴格規範輸出格式與語系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設定負面約束防止模型幻覺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2120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059669"/>
                </a:solidFill>
                <a:latin typeface="微軟正黑體"/>
              </a:rPr>
              <a:t>E (Expectation) 期望成果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期望產出：產出一份符合企業標準之【PowerPoint 簡 決策執行草案與結構化交付物】。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定義交付物規格與章節標準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明確可驗收之成果標準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160520"/>
            <a:ext cx="52120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D97706"/>
                </a:solidFill>
                <a:latin typeface="微軟正黑體"/>
              </a:rPr>
              <a:t>A (Action) &amp; R (Role)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指定角色：頂級管理顧問公司資深專案總監 (Engagement Manager)。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核心行動：根據輸入之商業情境與數據，提煉核心洞察、推導具體策略方針並產出對應操作語法。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使用強動詞鎖定商業意圖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提示詞細節剖析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第一步：精準定義 AI 角色 (Role) 與商業背景 (Context)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讓 AI 的思維模式瞬間切換至頂級商務顧問頻率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🎯 為什麼要給角色？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指定『麥肯錫資深專案經理』或『企業財務長特助』，AI 會自動調用高階管理辭彙，摒棄幼稚的學生口氣。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🏢 背景資訊需要多詳細？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告知公司業態（連鎖餐飲）、客群特徵（大學生與白領）、面臨困境（利潤下滑），AI 產出的建議才具備商業針對性。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提示詞細節剖析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第二步：鎖定具體動作 (Action) 與邊界限制 (Limits)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用明確的格式限制與負面約束，杜絕 AI 廢話連篇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⚡ 使用強動詞 (Action)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使用『提煉、對比、計算、重構、除錯』，嚴禁使用模糊動詞如『看一下、討論一下』。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🚫 嚴格限制邊界 (Limits)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限制：『繁體中文、字數不超過 300 字、嚴格使用 Markdown 表格輸出、嚴禁使用大陸用語』。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實戰 Prompt 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本週實戰完整提示詞模板 (可直接複製修改)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請完整選取下方文字框，貼入免費版 Antigravity 對話視窗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709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801368"/>
            <a:ext cx="128016" cy="12801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1288" y="180136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62456" y="1801368"/>
            <a:ext cx="128016" cy="12801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737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Consolas"/>
              </a:rPr>
              <a:t>antigravity-session // clear_prompt_framework.md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10180015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Consolas"/>
              </a:rPr>
              <a:t>[ROLE] 頂級管理顧問公司資深專案總監 (Engagement Manager)。
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D9488"/>
                </a:solidFill>
                <a:latin typeface="Consolas"/>
              </a:rPr>
              <a:t>[CONTEXT] 我們團隊正在進行【PowerPoint 簡報動態演示技巧與 AI 批次自動化簡報工作流】專案，受眾為企業高階經營決策層。
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11D48"/>
                </a:solidFill>
                <a:latin typeface="Consolas"/>
              </a:rPr>
              <a:t>[LIMITS] 繁體中文（台灣商務規範），邏輯嚴密，去除冗言贅字，嚴格使用標準 Markdown 呈現。
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F1F5F9"/>
                </a:solidFill>
                <a:latin typeface="Consolas"/>
              </a:rPr>
              <a:t>【角色】：假設你是頂級管理顧問公司資深專案總監。
【背景】：我們團隊正在執行【PowerPoint 簡報動態演示技巧與 AI 批次自動化簡報工作流】專案，受眾為企業高階決策層。
【任務】：請為我們產出標準商業專案交付內容：
1. 【核心策略方針】：條列 3 項具備數據支撐之精準改善對策。
2. 【結構化執行表格】：使用 Markdown 表格，明確規範項目、執行標準、預期效益與檢核指標。
3. 【防呆與風控建議】：指出執行本任務時最容易犯的三項低級錯誤與具體防範措施。
【限制】：繁體中文，專業商管公文語調，字數 400 字內。
【原始專案資料】：[此處貼上本週作業相關之業務資料或文字稿]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AI 產出解讀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深度解讀：AI 產出結果的優勢與潛在缺陷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學會用專業眼光審查 AI 回覆，找出 80% 的精華與 20% 的瑕疵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🌟 AI 表現亮眼之處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快速釐清複雜業務關係，產出結構完整、格式嚴謹的專業公文與清晰表格。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⚠️ 需要人工修正的盲點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部分極端邊界數值需經人工覆核手算驗證，確認是否完全符合真實運營邊界。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人工查核標準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人工防呆查核三步法 (Human Verification Protocol)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如何用 60 秒快速識破 AI 回覆中的邏輯盲區與計算錯誤？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24612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2880360" cy="347472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STEP 01 ｜ 數值檢驗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抽樣手算邊界值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隨機挑選 2-3 筆極端資料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手算驗證公式是否相符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檢查空白儲存格與特殊字元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87368" y="3840480"/>
            <a:ext cx="292608" cy="34747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71416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71416" y="1691640"/>
            <a:ext cx="324612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54296" y="1920240"/>
            <a:ext cx="288036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STEP 02 ｜ 常理檢核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比對商業常理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比對毛利與客單價合理性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檢查排版結構是否合規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剔除不切實際的誇大推論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27264" y="3840480"/>
            <a:ext cx="292608" cy="34747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2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2" y="1691640"/>
            <a:ext cx="32461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94192" y="1920240"/>
            <a:ext cx="288036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STEP 03 ｜ 語法確認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跨表相容檢查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確認工作表名稱完全一致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引號逗號標點皆為半形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驗證絕對參照 $ 符號位置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防範模型幻覺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識別大型語言模型『幻覺 (Hallucination)』的三大警訊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當 AI 開始一本正經胡說八道時，你該如何第一時間警覺？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🚨 警訊 1：虛構不存在的函數或參數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AI 有時會自創 Excel 函數（如不存在的 `VLOOKUP_ALL`），或為現有函數發明不存在的參數語法。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🚨 警訊 2：憑空捏造具體法規或統計局數據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若要求 AI 引用統計資料，AI 可能會生成非常精準的小數點（如 34.2%），但該報告根本不存在！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微軟正黑體"/>
              </a:rPr>
              <a:t>🚨 警訊 3：前後邏輯自我矛盾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前一段說營收大幅成長 25%，下一段卻說虧損擴大導致裁員，因果鏈條脫節。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進階追問技巧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30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第二輪迭代優化 Prompt (Iterative Refinement)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不要重新開對話！在原對話框中進行精準微調追問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追問公式 1：加入防呆包裝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『剛才的公式很好，但如果遇到底層資料為空白或查無資料時，請使用 IFERROR 包裝，使其顯示「無此品項」，請修改公式。』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追問公式 2：修飾為商管公文語氣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『請將剛才第三段的口語描述，重新改寫為符合台灣商管顧問規格的嚴謹公文體，條列 3 點具體因應策略。』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追問公式 3：轉換為三線表格格式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『請將以上所有數據分析結論，整理為一張標準 Markdown 表格，並加上千分位貨幣符號。』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場景靈活延伸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31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本週提示詞模版在多元商務場景中的延伸應用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學會一套模板，舉一反三解決跨部門各類文書與數據任務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09728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A3678"/>
                </a:solidFill>
                <a:latin typeface="微軟正黑體"/>
              </a:rPr>
              <a:t>人力資源 (HR)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考勤異常多條件統計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排班表出勤比對與提醒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年終績效面談評語結構化起草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059669"/>
                </a:solidFill>
                <a:latin typeface="微軟正黑體"/>
              </a:rPr>
              <a:t>行銷企劃 (Marketing)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競品社群輿情報告清洗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廣告投放 ROAS 損益推估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KOL 合作邀約信大量客製套印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2120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D97706"/>
                </a:solidFill>
                <a:latin typeface="微軟正黑體"/>
              </a:rPr>
              <a:t>財務與採購 (Finance)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供應商付款期程核對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逾期帳款多條件加總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採購合約標準驗收條款審查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160520"/>
            <a:ext cx="52120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4F46E5"/>
                </a:solidFill>
                <a:latin typeface="微軟正黑體"/>
              </a:rPr>
              <a:t>高階營運 (Operations)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門市日報表異常銷量警示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週會跨部門待辦追蹤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年度經營檢討會議 PPT 提綱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提示詞心法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32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提示詞模組核心心法收斂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成為駕馭 AI 的優秀提問者，而非被 AI 牽著走的被動使用者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黃金準則 1：結構先於內容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永遠先定義好輸出格式（表格、三段論、觀念標題），再讓 AI 填充文字內容。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黃金準則 2：保留提問紀錄 (Prompt Log)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將每一次成功的好提示詞存入個人詞庫筆記，這將成為你未來職場中最具價值的私房資產！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實機操作 SOP：依循標準作業程序，打造零瑕疵商務成果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四大步驟 ｜ 逐步拆解 ｜ 菜單精確路徑 ｜ 快捷鍵大字提示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01：前置準備與介面定位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1：啟動工作環境與載入示範檔案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定位軟體功能區，確認教材檔案與本機目錄路徑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啟動工作環境與載入示範檔案</a:t>
            </a:r>
          </a:p>
          <a:p>
            <a:pPr>
              <a:lnSpc>
                <a:spcPct val="130000"/>
              </a:lnSpc>
            </a:pPr>
            <a:r>
              <a:rPr sz="1550">
                <a:solidFill>
                  <a:srgbClr val="1E293B"/>
                </a:solidFill>
                <a:latin typeface="微軟正黑體"/>
              </a:rPr>
              <a:t>開啟軟體，載入本週教材《Week16_PPT動態轉場設計與AI批次自動化簡報工作流.pptx》，建立專屬工作目錄，確認原始資料完整無缺。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3779215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32201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💡 關鍵眉角與秘訣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E293B"/>
                </a:solidFill>
                <a:latin typeface="微軟正黑體"/>
              </a:rPr>
              <a:t>養成先另存新檔為『_工作底稿.ext』之安全操作習慣，絕不在原始資料上直接硬改！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01 精講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1 技術細節剖析：功能區功能標籤定位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深入操作參數、對話框選項與運算邏輯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選單與功能區精確路徑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桌面 / 開始功能表 → 開啟應用程式 → 檔案 &gt; 開啟 → 載入練習底稿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參數配置與核心屬性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確認軟體顯示比例為 100%，開啟尺規與格線輔助檢視。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⌨️ 快捷鍵與效率秘訣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Ctrl + O (開啟檔案) ｜ Ctrl + Shift + S (另存新檔)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01 檢查點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里程碑驗證：步驟 1 成果確認清單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完成此步驟後，請檢視你的螢幕是否呈現以下狀態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✅ 正確狀態特徵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軟體視窗頂端正確顯示專案檔名，工作區乾淨就緒。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❌ 異常徵兆排查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若提示檔案為『唯讀』，請先另存新檔至個人資料夾。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02：核心參數配置與運算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2：配置核心屬性與執行關鍵操作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依循標準作業程序，精準設定對話框欄位與運算邏輯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配置核心屬性與執行關鍵操作</a:t>
            </a:r>
          </a:p>
          <a:p>
            <a:pPr>
              <a:lnSpc>
                <a:spcPct val="130000"/>
              </a:lnSpc>
            </a:pPr>
            <a:r>
              <a:rPr sz="1550">
                <a:solidFill>
                  <a:srgbClr val="1E293B"/>
                </a:solidFill>
                <a:latin typeface="微軟正黑體"/>
              </a:rPr>
              <a:t>點選對應功能選單，設定各項核心參數（如：樣式階層、公式參照、母片對齊或切片器連線），執行關鍵運算。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3779215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32201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💡 關鍵眉角與秘訣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E293B"/>
                </a:solidFill>
                <a:latin typeface="微軟正黑體"/>
              </a:rPr>
              <a:t>在設定公式或樣式時，特別注意欄位名稱是否完全一致，避免打錯字！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02 精講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2 技術細節剖析：核心對話框參數設定詳解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深入操作參數、對話框選項與運算邏輯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選單與功能區精確路徑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功能區標籤 → 點選工具群組 → 開啟屬性對話框 → 配置數值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參數配置與核心屬性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嚴格檢查數值單位、絕對參照符號與核取方塊勾選狀態。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⌨️ 快捷鍵與效率秘訣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F4 (重複操作/切換鎖定) ｜ Tab (切換對話框欄位)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02 檢查點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里程碑驗證：步驟 2 成果確認清單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完成此步驟後，請檢視你的螢幕是否呈現以下狀態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✅ 正確狀態特徵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核心計算或版面配置立即依設定即時刷新，無任何語法報錯。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❌ 異常徵兆排查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若畫面出現異常空白或報錯代碼，請立即按 Ctrl+Z 還原排查。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03：細節修飾與視覺調校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3：落實商管視覺減法與規範美化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統整字型、色系、對齊與間距，消除所有視覺雜訊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落實商管視覺減法與規範美化</a:t>
            </a:r>
          </a:p>
          <a:p>
            <a:pPr>
              <a:lnSpc>
                <a:spcPct val="130000"/>
              </a:lnSpc>
            </a:pPr>
            <a:r>
              <a:rPr sz="1550">
                <a:solidFill>
                  <a:srgbClr val="1E293B"/>
                </a:solidFill>
                <a:latin typeface="微軟正黑體"/>
              </a:rPr>
              <a:t>統一全篇字型為微軟正黑體，套用商務深藍主色與琥珀橘點綴，去除多餘粗重框線與刺眼背景，達成像素級對齊。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3779215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32201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💡 關鍵眉角與秘訣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E293B"/>
                </a:solidFill>
                <a:latin typeface="微軟正黑體"/>
              </a:rPr>
              <a:t>記住圖表減法原則：能夠傳遞資訊的最少墨水，就是最好的商務美感！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03 精講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3 技術細節剖析：商務高階排版細節準則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深入操作參數、對話框選項與運算邏輯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選單與功能區精確路徑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常用 / 設計標籤 → 格式窗格 → 自訂字型與填滿色彩 → 套用對齊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參數配置與核心屬性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標題統一加粗放大，內文保持 1.2-1.5 倍舒適行高。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⌨️ 快捷鍵與效率秘訣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Ctrl + E (置中) ｜ Ctrl + L (靠左) ｜ Alt (貼齊網格拖曳)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03 檢查點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里程碑驗證：步驟 3 成果確認清單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完成此步驟後，請檢視你的螢幕是否呈現以下狀態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✅ 正確狀態特徵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視覺動線自然流暢，重點一眼可辨，整體質感媲美頂級管顧出版品。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❌ 異常徵兆排查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若存在色彩過多、字體超過三種或對齊歪斜，請執行樣式重置。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04：成果驗證與多版本備份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4：執行驗收檢查並完成交付封裝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全域刷新功能變數，產出標準成果檔與 PDF 雙重備份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執行驗收檢查並完成交付封裝</a:t>
            </a:r>
          </a:p>
          <a:p>
            <a:pPr>
              <a:lnSpc>
                <a:spcPct val="130000"/>
              </a:lnSpc>
            </a:pPr>
            <a:r>
              <a:rPr sz="1550">
                <a:solidFill>
                  <a:srgbClr val="1E293B"/>
                </a:solidFill>
                <a:latin typeface="微軟正黑體"/>
              </a:rPr>
              <a:t>執行全選按 F9 刷新所有功能變數與目錄；檢查無誤後存檔，並導出一份 PDF 確保跨平台閱卷絕不跑版。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3779215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32201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💡 關鍵眉角與秘訣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E293B"/>
                </a:solidFill>
                <a:latin typeface="微軟正黑體"/>
              </a:rPr>
              <a:t>正式提交作業或給主管前，務必親自開啟 PDF 檔案，由頭至尾逐頁快速滑動檢視一次！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04 精講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4 技術細節剖析：成果封裝與交件標準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深入操作參數、對話框選項與運算邏輯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選單與功能區精確路徑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全選 (Ctrl+A) → 刷新 (F9) → 檔案 &gt; 匯出 &gt; 建立 PDF/XPS 文件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參數配置與核心屬性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檔名嚴格遵循 ISO 8601 命名規範，附帶 Prompt 對話紀錄檔。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⌨️ 快捷鍵與效率秘訣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Ctrl + A (全選) ｜ F9 (全域刷新) ｜ Ctrl + S (存檔)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04 檢查點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里程碑驗證：步驟 4 成果確認清單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完成此步驟後，請檢視你的螢幕是否呈現以下狀態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395728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21408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01 ｜ 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  <a:latin typeface="微軟正黑體"/>
              </a:rPr>
              <a:t>啟動工作環境與載入示範檔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資料範圍定位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環境參數就緒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載入練習底稿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91640"/>
            <a:ext cx="2395728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20240"/>
            <a:ext cx="2121408" cy="329184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02 ｜ 核心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678"/>
                </a:solidFill>
                <a:latin typeface="微軟正黑體"/>
              </a:rPr>
              <a:t>配置核心屬性與執行關鍵操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核心屬性配置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公式語法嵌入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參照範圍鎖定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395728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92024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03 ｜ 修飾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微軟正黑體"/>
              </a:rPr>
              <a:t>落實商管視覺減法與規範美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三線樣式套用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文字對齊調整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全域格式一貫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91640"/>
            <a:ext cx="2395728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920240"/>
            <a:ext cx="212140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04 ｜ 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97706"/>
                </a:solidFill>
                <a:latin typeface="微軟正黑體"/>
              </a:rPr>
              <a:t>執行驗收檢查並完成交付封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防呆指標查驗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成果驗收核可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落實版本控管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全流程總結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完整四步操作 SOP 總覽全景圖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從原始資料載入到高階商務成果輸出的閉環作業流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395728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21408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01 ｜ 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  <a:latin typeface="微軟正黑體"/>
              </a:rPr>
              <a:t>啟動工作環境與載入示範檔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資料範圍定位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環境參數就緒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載入練習底稿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91640"/>
            <a:ext cx="2395728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20240"/>
            <a:ext cx="2121408" cy="329184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02 ｜ 核心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678"/>
                </a:solidFill>
                <a:latin typeface="微軟正黑體"/>
              </a:rPr>
              <a:t>配置核心屬性與執行關鍵操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核心屬性配置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公式語法嵌入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參照範圍鎖定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395728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92024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03 ｜ 修飾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微軟正黑體"/>
              </a:rPr>
              <a:t>落實商管視覺減法與規範美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三線樣式套用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文字對齊調整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全域格式一貫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91640"/>
            <a:ext cx="2395728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920240"/>
            <a:ext cx="212140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04 ｜ 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97706"/>
                </a:solidFill>
                <a:latin typeface="微軟正黑體"/>
              </a:rPr>
              <a:t>執行驗收檢查並完成交付封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防呆指標查驗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成果驗收核可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落實版本控管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自評檢核表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實機操作規範自評表 (Rubric Check)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請花 30 秒為自己剛才完成的操作打分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項次 1：規範度 (30%)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字型、邊界、色系是否完全符合商務標準？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項次 2：真確度 (40%)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計算公式或目錄連結是否健全無 Bug？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項次 3：完整度 (30%)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是否依規定命名並完成雙版本備份？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除錯手冊：遇見報錯代碼與排版災難時的急救指引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真正的高手不是不犯錯，而是能在 30 秒內精準找到根因並修復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致命錯誤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49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01：常見致命錯誤 1：參數未鎖定或格式不匹配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典型症狀：操作完成後，畫面出現怪異數值、格式錯位或無法正常連動。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💥 現場災難表象 (Symptom)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【畫面狀態】：顯示錯誤代碼、目錄空白或圖形擠成一團...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🔍 深層根本原因 (Root Cause)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操作過程中遺漏了關鍵鎖定步驟（如忘按 F4 鎖定 $、或未勾選報表連線）。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修復 SOP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01 根治急救步驟 (Step-by-Step Fix)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照著這三步操作，瞬間清除錯誤，恢復正常報表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4992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1A3678"/>
                </a:solidFill>
                <a:latin typeface="微軟正黑體"/>
              </a:rPr>
              <a:t>修復第 1 步：定位異常來源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切勿慌亂刪除重做，先按 Ctrl + Z 撤銷剛才的錯誤動作。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3364992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D97706"/>
                </a:solidFill>
                <a:latin typeface="微軟正黑體"/>
              </a:rPr>
              <a:t>修復第 2 步：套用標準修正指令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重新開啟屬性對話框，核對教材 SOP 的勾選清單，補齊遺漏設定。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36499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059669"/>
                </a:solidFill>
                <a:latin typeface="微軟正黑體"/>
              </a:rPr>
              <a:t>修復第 3 步：加入防呆公式預防復發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再次執行操作，並抽樣比對第一筆與最後一筆結果確認無誤。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致命錯誤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02：常見致命錯誤 2：文字隱形空白與假格式陷阱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典型症狀：肉眼看起來完全正常的文字或數字，軟體卻判定為無效或無法比對。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💥 現場災難表象 (Symptom)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【排查現象】：查表找不到、加總結果為 0、目錄無法自動抓取...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🔍 深層根本原因 (Root Cause)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資料源頭夾雜了首尾空格、換行符號或純文字型態之數字。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修復 SOP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02 根治急救步驟 (Step-by-Step Fix)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照著這三步操作，瞬間清除錯誤，恢復正常報表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4992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1A3678"/>
                </a:solidFill>
                <a:latin typeface="微軟正黑體"/>
              </a:rPr>
              <a:t>修復第 1 步：定位異常來源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選取目標儲存格或段落，開啟顯示所有隱藏格式標記（如 Word 的 ¶ 符號）。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3364992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D97706"/>
                </a:solidFill>
                <a:latin typeface="微軟正黑體"/>
              </a:rPr>
              <a:t>修復第 2 步：套用標準修正指令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使用 TRIM 函數或尋找取代功能，將不可見空格與非列印字元徹底清除。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36499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059669"/>
                </a:solidFill>
                <a:latin typeface="微軟正黑體"/>
              </a:rPr>
              <a:t>修復第 3 步：加入防呆公式預防復發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重新套用標準格式，確認右下角即時計算欄位出現正確數值。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致命錯誤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03：常見致命錯誤 3：版本覆蓋與未刷新功能變數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典型症狀：交給主管或助教的檔案，目錄頁碼仍然停留在舊版本，造成嚴重扣分。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💥 現場災難表象 (Symptom)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【閱卷反饋】：正文明明在第 15 頁，目錄卻依然寫著第 8 頁...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🔍 深層根本原因 (Root Cause)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在修改完正文內容後，忘記執行全域更新功能變數 (F9) 便直接存檔寄出。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修復 SOP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03 根治急救步驟 (Step-by-Step Fix)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照著這三步操作，瞬間清除錯誤，恢復正常報表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4992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1A3678"/>
                </a:solidFill>
                <a:latin typeface="微軟正黑體"/>
              </a:rPr>
              <a:t>修復第 1 步：定位異常來源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交件前強制養成肌肉記憶：按 Ctrl + A 全選整份文件。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3364992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D97706"/>
                </a:solidFill>
                <a:latin typeface="微軟正黑體"/>
              </a:rPr>
              <a:t>修復第 2 步：套用標準修正指令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按下鍵盤 F9 鍵，在跳出的對話框中選擇『更新整個目錄』而非僅更新頁碼。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36499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059669"/>
                </a:solidFill>
                <a:latin typeface="微軟正黑體"/>
              </a:rPr>
              <a:t>修復第 3 步：加入防呆公式預防復發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檢查第一章與最後一章頁碼，確認與正文底部頁碼完全一致後存檔。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除錯速查心法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職場除錯 30 秒速查心法口訣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遇到報錯時的標準冷靜思考三問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一問：資料型態對齊了嗎？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文字 vs 數值 vs 日期，兩邊資料來源格式是否完全相符？有沒有隱形空格？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二問：絕對位址 $ 鎖定漏了嗎？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公式向下向右拖拉時，參照範圍有沒有跟著位移跑掉？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三問：功能變數按 F9 刷新了嗎？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Word 目錄、交叉參照與圖表號碼，是否有全選並按 F9 更新？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課堂即堂實戰演練 (Hands-on Drill)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時限 30 分鐘 ｜ 分組協作 ｜ 驗收本週學習成效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驗收評分規準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57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隨堂演練評量重點與扣分地雷提醒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助教與教師巡迴審查時的精準檢驗指標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評分項目 A (40%)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核心功能與計算正確性，無重大邏輯錯誤或 Bug (40%)。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評分項目 B (30%)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排版外觀與格式規範度，符合商管專業三線表與高對比視覺 (30%)。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評分項目 C (30%)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AI 提示詞對話歷程紀錄之嚴謹度與查核反思紀錄 (30%)。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即堂成果點評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58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現場成果抽樣點評要點提示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觀摩優秀同學作品，從同儕盲點中反思自我優化空間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💡 亮點觀摩：優秀專案特徵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版面極簡素雅、公式無任何多餘巢狀、圖表一目了然、提示詞具備高度情境感。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⚠️ 通病警示：多數人常犯問題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忘記更新目錄頁碼、忘記清理文字空格、AI 產出未經人工查核便全數貼上。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閃電複習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59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本週 120 分鐘精華內容一分鐘閃電總結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帶走最重要的三個核心概念，內化為個人長久直覺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395728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21408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01 ｜ 自檢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  <a:latin typeface="微軟正黑體"/>
              </a:rPr>
              <a:t>本機對照自評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對照簡報驗收要點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檢查無報錯與漏填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字型格式完全規範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91640"/>
            <a:ext cx="2395728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20240"/>
            <a:ext cx="2121408" cy="329184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02 ｜ 命名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678"/>
                </a:solidFill>
                <a:latin typeface="微軟正黑體"/>
              </a:rPr>
              <a:t>標準檔名命名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學號_姓名_W16實作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確認副檔名正確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儲存於個人隨身碟/雲端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395728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92024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03 ｜ 上傳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微軟正黑體"/>
              </a:rPr>
              <a:t>數位平台繳交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登入校園學習平台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拖曳上傳至對應作業區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確認繳交狀態顯示已完成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91640"/>
            <a:ext cx="2395728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920240"/>
            <a:ext cx="212140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04 ｜ 離席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97706"/>
                </a:solidFill>
                <a:latin typeface="微軟正黑體"/>
              </a:rPr>
              <a:t>桌面清理與關機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登出 Antigravity 帳號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登出 Google 帳號保護隱私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依序正常關機與歸位座椅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課後作業指引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60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 16 週課後作業規範與繳交截止日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鞏固學習成效，持續打磨你的個人專案資產庫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📌 作業題目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完成本週指定之【PowerPoint 簡 進階實戰練習】，並將成果封裝提交至教學平台。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📁 繳交檔案規範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檔名格式：`學號_姓名_W16實作成果.zip`，內含原始文檔與 AI Prompt 對話紀錄。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⏰ 繳交截止期限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下週上課前一日（週日）晚間 23:59 截止，逾期每日扣總分 10%。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下週精彩預告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61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謝謝大家！下週課程精彩預告與 Q&amp;A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下一站：第 17 週 ｜ 持續邁向數位辦公高手之路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🚀 第 17 週即將解鎖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進入更高階的跨軟體整合與動態數據視覺化！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💬 課後提問與交流時間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有操作卡關或專案疑問的同學，歡迎留步至台前討論，下週見！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